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30352"/>
            <a:ext cx="53035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61C24"/>
                </a:solidFill>
                <a:latin typeface="Arial"/>
              </a:rPr>
              <a:t>Tank Scan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5394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C6670"/>
                </a:solidFill>
                <a:latin typeface="Arial"/>
              </a:rPr>
              <a:t>Progress check: DXF import to scan-profile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448056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61C24"/>
                </a:solidFill>
                <a:latin typeface="Arial"/>
              </a:defRPr>
            </a:pPr>
            <a:r>
              <a:t>Import tank floor drawings</a:t>
            </a:r>
          </a:p>
          <a:p>
            <a:pPr>
              <a:spcAft>
                <a:spcPts val="700"/>
              </a:spcAft>
              <a:defRPr sz="1800">
                <a:solidFill>
                  <a:srgbClr val="161C24"/>
                </a:solidFill>
                <a:latin typeface="Arial"/>
              </a:defRPr>
            </a:pPr>
            <a:r>
              <a:t>Build usable geometry</a:t>
            </a:r>
          </a:p>
          <a:p>
            <a:pPr>
              <a:spcAft>
                <a:spcPts val="700"/>
              </a:spcAft>
              <a:defRPr sz="1800">
                <a:solidFill>
                  <a:srgbClr val="161C24"/>
                </a:solidFill>
                <a:latin typeface="Arial"/>
              </a:defRPr>
            </a:pPr>
            <a:r>
              <a:t>Place scan profiles for early coverage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74920"/>
            <a:ext cx="16459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64B9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468112"/>
            <a:ext cx="1645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rial"/>
              </a:rPr>
              <a:t>tank sizes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5074920"/>
            <a:ext cx="16459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C8470"/>
                </a:solidFill>
                <a:latin typeface="Arial"/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5468112"/>
            <a:ext cx="1645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rial"/>
              </a:rPr>
              <a:t>current deck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566928"/>
            <a:ext cx="5943600" cy="5413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65ft_planner_preview_google_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456" y="566928"/>
            <a:ext cx="5413248" cy="54132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0" y="6099048"/>
            <a:ext cx="374903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rial"/>
              </a:rPr>
              <a:t>65 ft planner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Arial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840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1964B9"/>
                </a:solidFill>
                <a:latin typeface="Arial"/>
              </a:rPr>
              <a:t>HOW THE TOOL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67665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C24"/>
                </a:solidFill>
                <a:latin typeface="Arial"/>
              </a:rPr>
              <a:t>Current Build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20"/>
            <a:ext cx="438912" cy="438912"/>
          </a:xfrm>
          <a:prstGeom prst="ellipse">
            <a:avLst/>
          </a:prstGeom>
          <a:solidFill>
            <a:srgbClr val="1964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645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C24"/>
                </a:solidFill>
                <a:latin typeface="Arial"/>
              </a:rPr>
              <a:t>Read DXF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rial"/>
              </a:rPr>
              <a:t>lines, arcs, circles, layers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44168" y="2313432"/>
            <a:ext cx="1325880" cy="22860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17520" y="2103120"/>
            <a:ext cx="438912" cy="438912"/>
          </a:xfrm>
          <a:prstGeom prst="ellipse">
            <a:avLst/>
          </a:prstGeom>
          <a:solidFill>
            <a:srgbClr val="1964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697480"/>
            <a:ext cx="1645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C24"/>
                </a:solidFill>
                <a:latin typeface="Arial"/>
              </a:rPr>
              <a:t>Estimate tank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6324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rial"/>
              </a:rPr>
              <a:t>center and circular boundary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4448" y="2313432"/>
            <a:ext cx="1325880" cy="22860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57800" y="2103120"/>
            <a:ext cx="438912" cy="438912"/>
          </a:xfrm>
          <a:prstGeom prst="ellipse">
            <a:avLst/>
          </a:prstGeom>
          <a:solidFill>
            <a:srgbClr val="1964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697480"/>
            <a:ext cx="1645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C24"/>
                </a:solidFill>
                <a:latin typeface="Arial"/>
              </a:rPr>
              <a:t>Edge sweeps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06324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rial"/>
              </a:rPr>
              <a:t>clean circular rows near wall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4728" y="2313432"/>
            <a:ext cx="1325880" cy="22860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0" y="2103120"/>
            <a:ext cx="438912" cy="438912"/>
          </a:xfrm>
          <a:prstGeom prst="ellipse">
            <a:avLst/>
          </a:prstGeom>
          <a:solidFill>
            <a:srgbClr val="0C8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697480"/>
            <a:ext cx="1645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C24"/>
                </a:solidFill>
                <a:latin typeface="Arial"/>
              </a:rPr>
              <a:t>Interior fill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06324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rial"/>
              </a:rPr>
              <a:t>vertical scan columns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2313432"/>
            <a:ext cx="1325880" cy="22860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38360" y="2103120"/>
            <a:ext cx="438912" cy="438912"/>
          </a:xfrm>
          <a:prstGeom prst="ellipse">
            <a:avLst/>
          </a:prstGeom>
          <a:solidFill>
            <a:srgbClr val="0C8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697480"/>
            <a:ext cx="1645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C24"/>
                </a:solidFill>
                <a:latin typeface="Arial"/>
              </a:rPr>
              <a:t>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306324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rial"/>
              </a:rPr>
              <a:t>JSON, CSV, preview 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00600"/>
            <a:ext cx="51206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61C24"/>
                </a:solidFill>
                <a:latin typeface="Arial"/>
              </a:defRPr>
            </a:pPr>
            <a:r>
              <a:t>Simple geometry first</a:t>
            </a:r>
          </a:p>
          <a:p>
            <a:pPr>
              <a:spcAft>
                <a:spcPts val="700"/>
              </a:spcAft>
              <a:defRPr sz="1700">
                <a:solidFill>
                  <a:srgbClr val="161C24"/>
                </a:solidFill>
                <a:latin typeface="Arial"/>
              </a:defRPr>
            </a:pPr>
            <a:r>
              <a:t>Planner decisions stay visible</a:t>
            </a:r>
          </a:p>
          <a:p>
            <a:pPr>
              <a:spcAft>
                <a:spcPts val="700"/>
              </a:spcAft>
              <a:defRPr sz="1700">
                <a:solidFill>
                  <a:srgbClr val="161C24"/>
                </a:solidFill>
                <a:latin typeface="Arial"/>
              </a:defRPr>
            </a:pPr>
            <a:r>
              <a:t>No full optimization yet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00600"/>
            <a:ext cx="448056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61C24"/>
                </a:solidFill>
                <a:latin typeface="Arial"/>
              </a:rPr>
              <a:t>The goal right now is confidence: import correctly, place scans clearly, and see what fails.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Arial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840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1964B9"/>
                </a:solidFill>
                <a:latin typeface="Arial"/>
              </a:rPr>
              <a:t>THREE DXF TANK SIZES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67665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C24"/>
                </a:solidFill>
                <a:latin typeface="Arial"/>
              </a:rPr>
              <a:t>Generalization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611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4ft_planner_preview_google_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79"/>
            <a:ext cx="3611880" cy="3611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79392" y="1508760"/>
            <a:ext cx="3611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5ft_planner_preview_google_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783079"/>
            <a:ext cx="3611880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65008" y="1508760"/>
            <a:ext cx="3611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50ft_planner_preview_google_saf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1783079"/>
            <a:ext cx="3611880" cy="3611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13232" y="1700784"/>
            <a:ext cx="1051560" cy="292608"/>
          </a:xfrm>
          <a:prstGeom prst="roundRect">
            <a:avLst/>
          </a:prstGeom>
          <a:solidFill>
            <a:srgbClr val="1964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24 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4" y="1700784"/>
            <a:ext cx="1051560" cy="292608"/>
          </a:xfrm>
          <a:prstGeom prst="roundRect">
            <a:avLst/>
          </a:prstGeom>
          <a:solidFill>
            <a:srgbClr val="0C8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65 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00784"/>
            <a:ext cx="1051560" cy="292608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150 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870448"/>
            <a:ext cx="3383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6670"/>
                </a:solidFill>
                <a:latin typeface="Arial"/>
              </a:rPr>
              <a:t>Small tank: circular rows stop 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5870448"/>
            <a:ext cx="3383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6670"/>
                </a:solidFill>
                <a:latin typeface="Arial"/>
              </a:rPr>
              <a:t>Mid-size: edge rows + interior fill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5870448"/>
            <a:ext cx="3383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6670"/>
                </a:solidFill>
                <a:latin typeface="Arial"/>
              </a:rPr>
              <a:t>Large tank: many edge rows before interior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Arial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840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1964B9"/>
                </a:solidFill>
                <a:latin typeface="Arial"/>
              </a:rPr>
              <a:t>WHAT THE ALGORITHM IS DOING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67665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C24"/>
                </a:solidFill>
                <a:latin typeface="Arial"/>
              </a:rPr>
              <a:t>Placement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58064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5ft_planner_preview_google_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00200"/>
            <a:ext cx="443484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2280" y="1783080"/>
            <a:ext cx="4343400" cy="2194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61C24"/>
                </a:solidFill>
                <a:latin typeface="Arial"/>
              </a:defRPr>
            </a:pPr>
            <a:r>
              <a:t>Start near the wall</a:t>
            </a:r>
          </a:p>
          <a:p>
            <a:pPr>
              <a:spcAft>
                <a:spcPts val="700"/>
              </a:spcAft>
              <a:defRPr sz="1800">
                <a:solidFill>
                  <a:srgbClr val="161C24"/>
                </a:solidFill>
                <a:latin typeface="Arial"/>
              </a:defRPr>
            </a:pPr>
            <a:r>
              <a:t>Add circular rows only while they wrap cleanly</a:t>
            </a:r>
          </a:p>
          <a:p>
            <a:pPr>
              <a:spcAft>
                <a:spcPts val="700"/>
              </a:spcAft>
              <a:defRPr sz="1800">
                <a:solidFill>
                  <a:srgbClr val="161C24"/>
                </a:solidFill>
                <a:latin typeface="Arial"/>
              </a:defRPr>
            </a:pPr>
            <a:r>
              <a:t>Switch to vertical columns for the center area</a:t>
            </a:r>
          </a:p>
          <a:p>
            <a:pPr>
              <a:spcAft>
                <a:spcPts val="700"/>
              </a:spcAft>
              <a:defRPr sz="1800">
                <a:solidFill>
                  <a:srgbClr val="161C24"/>
                </a:solidFill>
                <a:latin typeface="Arial"/>
              </a:defRPr>
            </a:pPr>
            <a:r>
              <a:t>Use rotated side columns for narrow leftover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4736592"/>
            <a:ext cx="14630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64B9"/>
                </a:solidFill>
                <a:latin typeface="Arial"/>
              </a:rPr>
              <a:t>Key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5074920"/>
            <a:ext cx="425196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61C24"/>
                </a:solidFill>
                <a:latin typeface="Arial"/>
              </a:rPr>
              <a:t>Do not force a scan pattern where the geometry no longer fits well.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Arial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840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1964B9"/>
                </a:solidFill>
                <a:latin typeface="Arial"/>
              </a:rPr>
              <a:t>PROGRESS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67665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C24"/>
                </a:solidFill>
                <a:latin typeface="Arial"/>
              </a:rPr>
              <a:t>Status And Next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691640"/>
            <a:ext cx="4983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46520" y="1691640"/>
            <a:ext cx="4983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7432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64B9"/>
                </a:solidFill>
                <a:latin typeface="Arial"/>
              </a:rPr>
              <a:t>Working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206240" cy="2148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61C24"/>
                </a:solidFill>
                <a:latin typeface="Arial"/>
              </a:defRPr>
            </a:pPr>
            <a:r>
              <a:t>DXF geometry importer</a:t>
            </a:r>
          </a:p>
          <a:p>
            <a:pPr>
              <a:spcAft>
                <a:spcPts val="700"/>
              </a:spcAft>
              <a:defRPr sz="1500">
                <a:solidFill>
                  <a:srgbClr val="161C24"/>
                </a:solidFill>
                <a:latin typeface="Arial"/>
              </a:defRPr>
            </a:pPr>
            <a:r>
              <a:t>Reusable rainbow scan profile</a:t>
            </a:r>
          </a:p>
          <a:p>
            <a:pPr>
              <a:spcAft>
                <a:spcPts val="700"/>
              </a:spcAft>
              <a:defRPr sz="1500">
                <a:solidFill>
                  <a:srgbClr val="161C24"/>
                </a:solidFill>
                <a:latin typeface="Arial"/>
              </a:defRPr>
            </a:pPr>
            <a:r>
              <a:t>Adaptive edge sweep logic</a:t>
            </a:r>
          </a:p>
          <a:p>
            <a:pPr>
              <a:spcAft>
                <a:spcPts val="700"/>
              </a:spcAft>
              <a:defRPr sz="1500">
                <a:solidFill>
                  <a:srgbClr val="161C24"/>
                </a:solidFill>
                <a:latin typeface="Arial"/>
              </a:defRPr>
            </a:pPr>
            <a:r>
              <a:t>Interior vertical fill preview</a:t>
            </a:r>
          </a:p>
          <a:p>
            <a:pPr>
              <a:spcAft>
                <a:spcPts val="700"/>
              </a:spcAft>
              <a:defRPr sz="1500">
                <a:solidFill>
                  <a:srgbClr val="161C24"/>
                </a:solidFill>
                <a:latin typeface="Arial"/>
              </a:defRPr>
            </a:pPr>
            <a:r>
              <a:t>Mission export + coverage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8272" y="1965960"/>
            <a:ext cx="32004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7722"/>
                </a:solidFill>
                <a:latin typeface="Arial"/>
              </a:rPr>
              <a:t>Next Risks To Solve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514600"/>
            <a:ext cx="4251960" cy="2148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61C24"/>
                </a:solidFill>
                <a:latin typeface="Arial"/>
              </a:defRPr>
            </a:pPr>
            <a:r>
              <a:t>Better exact overlap math</a:t>
            </a:r>
          </a:p>
          <a:p>
            <a:pPr>
              <a:spcAft>
                <a:spcPts val="700"/>
              </a:spcAft>
              <a:defRPr sz="1500">
                <a:solidFill>
                  <a:srgbClr val="161C24"/>
                </a:solidFill>
                <a:latin typeface="Arial"/>
              </a:defRPr>
            </a:pPr>
            <a:r>
              <a:t>Cleaner transition between stages</a:t>
            </a:r>
          </a:p>
          <a:p>
            <a:pPr>
              <a:spcAft>
                <a:spcPts val="700"/>
              </a:spcAft>
              <a:defRPr sz="1500">
                <a:solidFill>
                  <a:srgbClr val="161C24"/>
                </a:solidFill>
                <a:latin typeface="Arial"/>
              </a:defRPr>
            </a:pPr>
            <a:r>
              <a:t>More tank shapes and messy DXFs</a:t>
            </a:r>
          </a:p>
          <a:p>
            <a:pPr>
              <a:spcAft>
                <a:spcPts val="700"/>
              </a:spcAft>
              <a:defRPr sz="1500">
                <a:solidFill>
                  <a:srgbClr val="161C24"/>
                </a:solidFill>
                <a:latin typeface="Arial"/>
              </a:defRPr>
            </a:pPr>
            <a:r>
              <a:t>Runtime improvements</a:t>
            </a:r>
          </a:p>
          <a:p>
            <a:pPr>
              <a:spcAft>
                <a:spcPts val="700"/>
              </a:spcAft>
              <a:defRPr sz="1500">
                <a:solidFill>
                  <a:srgbClr val="161C24"/>
                </a:solidFill>
                <a:latin typeface="Arial"/>
              </a:defRPr>
            </a:pPr>
            <a:r>
              <a:t>Field validation against real robot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42432"/>
            <a:ext cx="98755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1C24"/>
                </a:solidFill>
                <a:latin typeface="Arial"/>
              </a:rPr>
              <a:t>Main takeaway: the planner is becoming a repeatable geometry pipeline, not a one-off drawing.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Arial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